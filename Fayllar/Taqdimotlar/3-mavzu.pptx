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5" d="100"/>
          <a:sy n="45" d="100"/>
        </p:scale>
        <p:origin x="-123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ru-RU" smtClean="0"/>
              <a:t>Образец заголовка</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smtClean="0"/>
              <a:t>Образец подзаголовка</a:t>
            </a:r>
            <a:endParaRPr kumimoji="0" lang="en-US"/>
          </a:p>
        </p:txBody>
      </p:sp>
      <p:sp>
        <p:nvSpPr>
          <p:cNvPr id="30" name="Date Placeholder 29"/>
          <p:cNvSpPr>
            <a:spLocks noGrp="1"/>
          </p:cNvSpPr>
          <p:nvPr>
            <p:ph type="dt" sz="half" idx="10"/>
          </p:nvPr>
        </p:nvSpPr>
        <p:spPr/>
        <p:txBody>
          <a:bodyPr/>
          <a:lstStyle/>
          <a:p>
            <a:fld id="{8E388A73-D780-464D-8952-2D629E577CEE}" type="datetimeFigureOut">
              <a:rPr lang="ru-RU" smtClean="0"/>
              <a:t>07.11.2023</a:t>
            </a:fld>
            <a:endParaRPr lang="ru-RU"/>
          </a:p>
        </p:txBody>
      </p:sp>
      <p:sp>
        <p:nvSpPr>
          <p:cNvPr id="19" name="Footer Placeholder 18"/>
          <p:cNvSpPr>
            <a:spLocks noGrp="1"/>
          </p:cNvSpPr>
          <p:nvPr>
            <p:ph type="ftr" sz="quarter" idx="11"/>
          </p:nvPr>
        </p:nvSpPr>
        <p:spPr/>
        <p:txBody>
          <a:bodyPr/>
          <a:lstStyle/>
          <a:p>
            <a:endParaRPr lang="ru-RU"/>
          </a:p>
        </p:txBody>
      </p:sp>
      <p:sp>
        <p:nvSpPr>
          <p:cNvPr id="27" name="Slide Number Placeholder 26"/>
          <p:cNvSpPr>
            <a:spLocks noGrp="1"/>
          </p:cNvSpPr>
          <p:nvPr>
            <p:ph type="sldNum" sz="quarter" idx="12"/>
          </p:nvPr>
        </p:nvSpPr>
        <p:spPr/>
        <p:txBody>
          <a:bodyPr/>
          <a:lstStyle/>
          <a:p>
            <a:fld id="{D76D76ED-FE3C-4A9C-AFE8-8E01E85EFC8F}"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ru-RU" smtClean="0"/>
              <a:t>Образец заголовка</a:t>
            </a:r>
            <a:endParaRPr kumimoji="0" lang="en-US"/>
          </a:p>
        </p:txBody>
      </p:sp>
      <p:sp>
        <p:nvSpPr>
          <p:cNvPr id="3" name="Content Placeholder 2"/>
          <p:cNvSpPr>
            <a:spLocks noGrp="1"/>
          </p:cNvSpPr>
          <p:nvPr>
            <p:ph idx="1"/>
          </p:nvPr>
        </p:nvSpPr>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Date Placeholder 3"/>
          <p:cNvSpPr>
            <a:spLocks noGrp="1"/>
          </p:cNvSpPr>
          <p:nvPr>
            <p:ph type="dt" sz="half" idx="10"/>
          </p:nvPr>
        </p:nvSpPr>
        <p:spPr/>
        <p:txBody>
          <a:bodyPr/>
          <a:lstStyle/>
          <a:p>
            <a:fld id="{8E388A73-D780-464D-8952-2D629E577CEE}"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6D76ED-FE3C-4A9C-AFE8-8E01E85EFC8F}"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ru-RU" smtClean="0"/>
              <a:t>Образец заголовка</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smtClean="0"/>
              <a:t>Образец текста</a:t>
            </a:r>
          </a:p>
        </p:txBody>
      </p:sp>
      <p:sp>
        <p:nvSpPr>
          <p:cNvPr id="4" name="Date Placeholder 3"/>
          <p:cNvSpPr>
            <a:spLocks noGrp="1"/>
          </p:cNvSpPr>
          <p:nvPr>
            <p:ph type="dt" sz="half" idx="10"/>
          </p:nvPr>
        </p:nvSpPr>
        <p:spPr/>
        <p:txBody>
          <a:bodyPr/>
          <a:lstStyle/>
          <a:p>
            <a:fld id="{8E388A73-D780-464D-8952-2D629E577CEE}"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6D76ED-FE3C-4A9C-AFE8-8E01E85EFC8F}"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ru-RU" smtClean="0"/>
              <a:t>Образец заголовка</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Date Placeholder 4"/>
          <p:cNvSpPr>
            <a:spLocks noGrp="1"/>
          </p:cNvSpPr>
          <p:nvPr>
            <p:ph type="dt" sz="half" idx="10"/>
          </p:nvPr>
        </p:nvSpPr>
        <p:spPr/>
        <p:txBody>
          <a:bodyPr/>
          <a:lstStyle/>
          <a:p>
            <a:fld id="{8E388A73-D780-464D-8952-2D629E577CEE}"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6D76ED-FE3C-4A9C-AFE8-8E01E85EFC8F}"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ru-RU" smtClean="0"/>
              <a:t>Образец заголовка</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7" name="Date Placeholder 6"/>
          <p:cNvSpPr>
            <a:spLocks noGrp="1"/>
          </p:cNvSpPr>
          <p:nvPr>
            <p:ph type="dt" sz="half" idx="10"/>
          </p:nvPr>
        </p:nvSpPr>
        <p:spPr/>
        <p:txBody>
          <a:bodyPr/>
          <a:lstStyle/>
          <a:p>
            <a:fld id="{8E388A73-D780-464D-8952-2D629E577CEE}" type="datetimeFigureOut">
              <a:rPr lang="ru-RU" smtClean="0"/>
              <a:t>07.11.2023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D76D76ED-FE3C-4A9C-AFE8-8E01E85EFC8F}"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ru-RU" smtClean="0"/>
              <a:t>Образец заголовка</a:t>
            </a:r>
            <a:endParaRPr kumimoji="0" lang="en-US"/>
          </a:p>
        </p:txBody>
      </p:sp>
      <p:sp>
        <p:nvSpPr>
          <p:cNvPr id="3" name="Date Placeholder 2"/>
          <p:cNvSpPr>
            <a:spLocks noGrp="1"/>
          </p:cNvSpPr>
          <p:nvPr>
            <p:ph type="dt" sz="half" idx="10"/>
          </p:nvPr>
        </p:nvSpPr>
        <p:spPr/>
        <p:txBody>
          <a:bodyPr/>
          <a:lstStyle/>
          <a:p>
            <a:fld id="{8E388A73-D780-464D-8952-2D629E577CEE}" type="datetimeFigureOut">
              <a:rPr lang="ru-RU" smtClean="0"/>
              <a:t>07.11.2023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D76D76ED-FE3C-4A9C-AFE8-8E01E85EFC8F}"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88A73-D780-464D-8952-2D629E577CEE}" type="datetimeFigureOut">
              <a:rPr lang="ru-RU" smtClean="0"/>
              <a:t>07.11.2023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D76D76ED-FE3C-4A9C-AFE8-8E01E85EFC8F}"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ru-RU" smtClean="0"/>
              <a:t>Образец заголовка</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ru-RU" smtClean="0"/>
              <a:t>Образец текста</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Date Placeholder 4"/>
          <p:cNvSpPr>
            <a:spLocks noGrp="1"/>
          </p:cNvSpPr>
          <p:nvPr>
            <p:ph type="dt" sz="half" idx="10"/>
          </p:nvPr>
        </p:nvSpPr>
        <p:spPr/>
        <p:txBody>
          <a:bodyPr/>
          <a:lstStyle/>
          <a:p>
            <a:fld id="{8E388A73-D780-464D-8952-2D629E577CEE}"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76D76ED-FE3C-4A9C-AFE8-8E01E85EFC8F}"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ru-RU" smtClean="0"/>
              <a:t>Образец заголовка</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ru-RU" smtClean="0"/>
              <a:t>Образец текста</a:t>
            </a:r>
          </a:p>
        </p:txBody>
      </p:sp>
      <p:sp>
        <p:nvSpPr>
          <p:cNvPr id="5" name="Date Placeholder 4"/>
          <p:cNvSpPr>
            <a:spLocks noGrp="1"/>
          </p:cNvSpPr>
          <p:nvPr>
            <p:ph type="dt" sz="half" idx="10"/>
          </p:nvPr>
        </p:nvSpPr>
        <p:spPr/>
        <p:txBody>
          <a:bodyPr/>
          <a:lstStyle/>
          <a:p>
            <a:fld id="{8E388A73-D780-464D-8952-2D629E577CEE}"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a:xfrm>
            <a:off x="8077200" y="6356350"/>
            <a:ext cx="609600" cy="365125"/>
          </a:xfrm>
        </p:spPr>
        <p:txBody>
          <a:bodyPr/>
          <a:lstStyle/>
          <a:p>
            <a:fld id="{D76D76ED-FE3C-4A9C-AFE8-8E01E85EFC8F}" type="slidenum">
              <a:rPr lang="ru-RU" smtClean="0"/>
              <a:t>‹#›</a:t>
            </a:fld>
            <a:endParaRPr lang="ru-R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ru-RU" smtClean="0"/>
              <a:t>Вставка рисунка</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ru-RU" smtClean="0"/>
              <a:t>Образец заголовка</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Date Placeholder 3"/>
          <p:cNvSpPr>
            <a:spLocks noGrp="1"/>
          </p:cNvSpPr>
          <p:nvPr>
            <p:ph type="dt" sz="half" idx="10"/>
          </p:nvPr>
        </p:nvSpPr>
        <p:spPr/>
        <p:txBody>
          <a:bodyPr/>
          <a:lstStyle/>
          <a:p>
            <a:fld id="{8E388A73-D780-464D-8952-2D629E577CEE}"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6D76ED-FE3C-4A9C-AFE8-8E01E85EFC8F}"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ru-RU" smtClean="0"/>
              <a:t>Образец заголовка</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Date Placeholder 3"/>
          <p:cNvSpPr>
            <a:spLocks noGrp="1"/>
          </p:cNvSpPr>
          <p:nvPr>
            <p:ph type="dt" sz="half" idx="10"/>
          </p:nvPr>
        </p:nvSpPr>
        <p:spPr/>
        <p:txBody>
          <a:bodyPr/>
          <a:lstStyle/>
          <a:p>
            <a:fld id="{8E388A73-D780-464D-8952-2D629E577CEE}"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76D76ED-FE3C-4A9C-AFE8-8E01E85EFC8F}"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ru-RU" smtClean="0"/>
              <a:t>Образец заголовка</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ru-RU" smtClean="0"/>
              <a:t>Образец текста</a:t>
            </a:r>
          </a:p>
          <a:p>
            <a:pPr lvl="1" eaLnBrk="1" latinLnBrk="0" hangingPunct="1"/>
            <a:r>
              <a:rPr kumimoji="0" lang="ru-RU" smtClean="0"/>
              <a:t>Второй уровень</a:t>
            </a:r>
          </a:p>
          <a:p>
            <a:pPr lvl="2" eaLnBrk="1" latinLnBrk="0" hangingPunct="1"/>
            <a:r>
              <a:rPr kumimoji="0" lang="ru-RU" smtClean="0"/>
              <a:t>Третий уровень</a:t>
            </a:r>
          </a:p>
          <a:p>
            <a:pPr lvl="3" eaLnBrk="1" latinLnBrk="0" hangingPunct="1"/>
            <a:r>
              <a:rPr kumimoji="0" lang="ru-RU" smtClean="0"/>
              <a:t>Четвертый уровень</a:t>
            </a:r>
          </a:p>
          <a:p>
            <a:pPr lvl="4" eaLnBrk="1" latinLnBrk="0" hangingPunct="1"/>
            <a:r>
              <a:rPr kumimoji="0" lang="ru-RU" smtClean="0"/>
              <a:t>Пятый уровень</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E388A73-D780-464D-8952-2D629E577CEE}" type="datetimeFigureOut">
              <a:rPr lang="ru-RU" smtClean="0"/>
              <a:t>07.11.2023</a:t>
            </a:fld>
            <a:endParaRPr lang="ru-R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ru-R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76D76ED-FE3C-4A9C-AFE8-8E01E85EFC8F}" type="slidenum">
              <a:rPr lang="ru-RU" smtClean="0"/>
              <a:t>‹#›</a:t>
            </a:fld>
            <a:endParaRPr lang="ru-R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0" y="476672"/>
            <a:ext cx="8748464" cy="3384376"/>
          </a:xfrm>
        </p:spPr>
        <p:txBody>
          <a:bodyPr>
            <a:normAutofit fontScale="90000"/>
          </a:bodyPr>
          <a:lstStyle/>
          <a:p>
            <a:pPr algn="ctr"/>
            <a:r>
              <a:rPr lang="es-US" b="1" dirty="0" smtClean="0">
                <a:solidFill>
                  <a:srgbClr val="FF0000"/>
                </a:solidFill>
                <a:effectLst/>
                <a:latin typeface="Times New Roman" panose="02020603050405020304" pitchFamily="18" charset="0"/>
                <a:cs typeface="Times New Roman" panose="02020603050405020304" pitchFamily="18" charset="0"/>
              </a:rPr>
              <a:t> </a:t>
            </a:r>
            <a:r>
              <a:rPr lang="es-US" b="1" dirty="0">
                <a:solidFill>
                  <a:srgbClr val="FF0000"/>
                </a:solidFill>
                <a:effectLst/>
                <a:latin typeface="Times New Roman" panose="02020603050405020304" pitchFamily="18" charset="0"/>
                <a:cs typeface="Times New Roman" panose="02020603050405020304" pitchFamily="18" charset="0"/>
              </a:rPr>
              <a:t>Qo’l terisini parvarish qilish. Qo’l  barmoqlarini  massaj qilish.</a:t>
            </a:r>
            <a:r>
              <a:rPr lang="ru-RU" dirty="0">
                <a:solidFill>
                  <a:srgbClr val="FF0000"/>
                </a:solidFill>
                <a:effectLst/>
                <a:latin typeface="Times New Roman" panose="02020603050405020304" pitchFamily="18" charset="0"/>
                <a:cs typeface="Times New Roman" panose="02020603050405020304" pitchFamily="18" charset="0"/>
              </a:rPr>
              <a:t/>
            </a:r>
            <a:br>
              <a:rPr lang="ru-RU" dirty="0">
                <a:solidFill>
                  <a:srgbClr val="FF0000"/>
                </a:solidFill>
                <a:effectLst/>
                <a:latin typeface="Times New Roman" panose="02020603050405020304" pitchFamily="18" charset="0"/>
                <a:cs typeface="Times New Roman" panose="02020603050405020304" pitchFamily="18" charset="0"/>
              </a:rPr>
            </a:br>
            <a:endParaRPr lang="ru-RU" dirty="0">
              <a:solidFill>
                <a:srgbClr val="FF0000"/>
              </a:solidFill>
              <a:effectLst/>
              <a:latin typeface="Times New Roman" panose="02020603050405020304" pitchFamily="18" charset="0"/>
              <a:cs typeface="Times New Roman" panose="02020603050405020304" pitchFamily="18" charset="0"/>
            </a:endParaRPr>
          </a:p>
        </p:txBody>
      </p:sp>
      <p:sp>
        <p:nvSpPr>
          <p:cNvPr id="3" name="Подзаголовок 2"/>
          <p:cNvSpPr>
            <a:spLocks noGrp="1"/>
          </p:cNvSpPr>
          <p:nvPr>
            <p:ph type="subTitle" idx="1"/>
          </p:nvPr>
        </p:nvSpPr>
        <p:spPr/>
        <p:txBody>
          <a:bodyPr>
            <a:noAutofit/>
          </a:bodyPr>
          <a:lstStyle/>
          <a:p>
            <a:pPr algn="just"/>
            <a:r>
              <a:rPr lang="en-US" sz="3600" dirty="0" err="1">
                <a:solidFill>
                  <a:srgbClr val="FF0000"/>
                </a:solidFill>
                <a:latin typeface="Times New Roman" panose="02020603050405020304" pitchFamily="18" charset="0"/>
                <a:cs typeface="Times New Roman" panose="02020603050405020304" pitchFamily="18" charset="0"/>
              </a:rPr>
              <a:t>Reja</a:t>
            </a:r>
            <a:endParaRPr lang="ru-RU" sz="3600" dirty="0">
              <a:solidFill>
                <a:srgbClr val="FF0000"/>
              </a:solidFill>
              <a:latin typeface="Times New Roman" panose="02020603050405020304" pitchFamily="18" charset="0"/>
              <a:cs typeface="Times New Roman" panose="02020603050405020304" pitchFamily="18" charset="0"/>
            </a:endParaRPr>
          </a:p>
          <a:p>
            <a:pPr algn="just"/>
            <a:r>
              <a:rPr lang="en-US" sz="3600" dirty="0">
                <a:solidFill>
                  <a:srgbClr val="FF0000"/>
                </a:solidFill>
                <a:latin typeface="Times New Roman" panose="02020603050405020304" pitchFamily="18" charset="0"/>
                <a:cs typeface="Times New Roman" panose="02020603050405020304" pitchFamily="18" charset="0"/>
              </a:rPr>
              <a:t>1.Qo’l </a:t>
            </a:r>
            <a:r>
              <a:rPr lang="en-US" sz="3600" dirty="0" err="1">
                <a:solidFill>
                  <a:srgbClr val="FF0000"/>
                </a:solidFill>
                <a:latin typeface="Times New Roman" panose="02020603050405020304" pitchFamily="18" charset="0"/>
                <a:cs typeface="Times New Roman" panose="02020603050405020304" pitchFamily="18" charset="0"/>
              </a:rPr>
              <a:t>barmoqlarni</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err="1">
                <a:solidFill>
                  <a:srgbClr val="FF0000"/>
                </a:solidFill>
                <a:latin typeface="Times New Roman" panose="02020603050405020304" pitchFamily="18" charset="0"/>
                <a:cs typeface="Times New Roman" panose="02020603050405020304" pitchFamily="18" charset="0"/>
              </a:rPr>
              <a:t>massaj</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err="1">
                <a:solidFill>
                  <a:srgbClr val="FF0000"/>
                </a:solidFill>
                <a:latin typeface="Times New Roman" panose="02020603050405020304" pitchFamily="18" charset="0"/>
                <a:cs typeface="Times New Roman" panose="02020603050405020304" pitchFamily="18" charset="0"/>
              </a:rPr>
              <a:t>qilish</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err="1">
                <a:solidFill>
                  <a:srgbClr val="FF0000"/>
                </a:solidFill>
                <a:latin typeface="Times New Roman" panose="02020603050405020304" pitchFamily="18" charset="0"/>
                <a:cs typeface="Times New Roman" panose="02020603050405020304" pitchFamily="18" charset="0"/>
              </a:rPr>
              <a:t>qoidalari</a:t>
            </a:r>
            <a:endParaRPr lang="ru-RU" sz="3600" dirty="0">
              <a:solidFill>
                <a:srgbClr val="FF0000"/>
              </a:solidFill>
              <a:latin typeface="Times New Roman" panose="02020603050405020304" pitchFamily="18" charset="0"/>
              <a:cs typeface="Times New Roman" panose="02020603050405020304" pitchFamily="18" charset="0"/>
            </a:endParaRPr>
          </a:p>
          <a:p>
            <a:pPr algn="just"/>
            <a:r>
              <a:rPr lang="uz-Cyrl-UZ" sz="3600" dirty="0">
                <a:solidFill>
                  <a:srgbClr val="FF0000"/>
                </a:solidFill>
                <a:latin typeface="Times New Roman" panose="02020603050405020304" pitchFamily="18" charset="0"/>
                <a:cs typeface="Times New Roman" panose="02020603050405020304" pitchFamily="18" charset="0"/>
              </a:rPr>
              <a:t>2.Qo’l barmoqlarini massaj qilishda oziqlantiruvchi kremlardan foydalanish</a:t>
            </a:r>
            <a:endParaRPr lang="ru-RU" sz="3600" dirty="0">
              <a:solidFill>
                <a:srgbClr val="FF0000"/>
              </a:solidFill>
              <a:latin typeface="Times New Roman" panose="02020603050405020304" pitchFamily="18" charset="0"/>
              <a:cs typeface="Times New Roman" panose="02020603050405020304" pitchFamily="18" charset="0"/>
            </a:endParaRPr>
          </a:p>
          <a:p>
            <a:pPr algn="just"/>
            <a:r>
              <a:rPr lang="en-US" sz="3600" dirty="0"/>
              <a:t> </a:t>
            </a:r>
            <a:endParaRPr lang="ru-RU" sz="3600" dirty="0"/>
          </a:p>
          <a:p>
            <a:pPr algn="just"/>
            <a:endParaRPr lang="ru-RU" sz="3600" dirty="0"/>
          </a:p>
        </p:txBody>
      </p:sp>
    </p:spTree>
    <p:extLst>
      <p:ext uri="{BB962C8B-B14F-4D97-AF65-F5344CB8AC3E}">
        <p14:creationId xmlns:p14="http://schemas.microsoft.com/office/powerpoint/2010/main" val="3197788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rotWithShape="1">
          <a:blip r:embed="rId2">
            <a:extLst>
              <a:ext uri="{28A0092B-C50C-407E-A947-70E740481C1C}">
                <a14:useLocalDpi xmlns:a14="http://schemas.microsoft.com/office/drawing/2010/main" val="0"/>
              </a:ext>
            </a:extLst>
          </a:blip>
          <a:srcRect l="35774"/>
          <a:stretch/>
        </p:blipFill>
        <p:spPr bwMode="auto">
          <a:xfrm>
            <a:off x="4423389" y="1412776"/>
            <a:ext cx="3525651" cy="2736304"/>
          </a:xfrm>
          <a:prstGeom prst="rect">
            <a:avLst/>
          </a:prstGeom>
          <a:ln>
            <a:noFill/>
          </a:ln>
          <a:extLst>
            <a:ext uri="{53640926-AAD7-44D8-BBD7-CCE9431645EC}">
              <a14:shadowObscured xmlns:a14="http://schemas.microsoft.com/office/drawing/2010/main"/>
            </a:ext>
          </a:extLst>
        </p:spPr>
      </p:pic>
      <p:pic>
        <p:nvPicPr>
          <p:cNvPr id="3" name="Рисунок 2"/>
          <p:cNvPicPr/>
          <p:nvPr/>
        </p:nvPicPr>
        <p:blipFill rotWithShape="1">
          <a:blip r:embed="rId3"/>
          <a:srcRect l="3007" t="57301" r="12307" b="4204"/>
          <a:stretch/>
        </p:blipFill>
        <p:spPr bwMode="auto">
          <a:xfrm>
            <a:off x="611560" y="3645024"/>
            <a:ext cx="3240360" cy="280831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76956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260648"/>
            <a:ext cx="8229600" cy="6120680"/>
          </a:xfrm>
        </p:spPr>
        <p:txBody>
          <a:bodyPr>
            <a:normAutofit fontScale="90000"/>
          </a:bodyPr>
          <a:lstStyle/>
          <a:p>
            <a:pPr algn="just"/>
            <a:r>
              <a:rPr lang="uz-Cyrl-UZ" sz="3900" dirty="0">
                <a:latin typeface="Times New Roman" panose="02020603050405020304" pitchFamily="18" charset="0"/>
                <a:cs typeface="Times New Roman" panose="02020603050405020304" pitchFamily="18" charset="0"/>
              </a:rPr>
              <a:t>Qo’l  barmoqlarini  massaj qilishda turli xil oziqlantiruvchi kremlarni ishlatib barmoqlar, kaftlar va bilaklar yaxshilab uqalanadi. Qo‘lni uqalaganda limfa tomirlari kengayib, qon aylanish jara­yoni yaxshilanadi va tomirlarni yumshatib terini mayinlashtiradi.</a:t>
            </a:r>
            <a:r>
              <a:rPr lang="ru-RU" sz="3900" dirty="0">
                <a:latin typeface="Times New Roman" panose="02020603050405020304" pitchFamily="18" charset="0"/>
                <a:cs typeface="Times New Roman" panose="02020603050405020304" pitchFamily="18" charset="0"/>
              </a:rPr>
              <a:t/>
            </a:r>
            <a:br>
              <a:rPr lang="ru-RU" sz="3900" dirty="0">
                <a:latin typeface="Times New Roman" panose="02020603050405020304" pitchFamily="18" charset="0"/>
                <a:cs typeface="Times New Roman" panose="02020603050405020304" pitchFamily="18" charset="0"/>
              </a:rPr>
            </a:br>
            <a:r>
              <a:rPr lang="uz-Cyrl-UZ" sz="3900" dirty="0">
                <a:latin typeface="Times New Roman" panose="02020603050405020304" pitchFamily="18" charset="0"/>
                <a:cs typeface="Times New Roman" panose="02020603050405020304" pitchFamily="18" charset="0"/>
              </a:rPr>
              <a:t>Odatda, uqalash amali tirnoqqa lak surtishdan oldin, mijoz qo‘lini tirgakka qo‘yib turgancha bajariladi.</a:t>
            </a:r>
            <a:r>
              <a:rPr lang="ru-RU" dirty="0"/>
              <a:t/>
            </a:r>
            <a:br>
              <a:rPr lang="ru-RU" dirty="0"/>
            </a:br>
            <a:endParaRPr lang="ru-RU" dirty="0"/>
          </a:p>
        </p:txBody>
      </p:sp>
    </p:spTree>
    <p:extLst>
      <p:ext uri="{BB962C8B-B14F-4D97-AF65-F5344CB8AC3E}">
        <p14:creationId xmlns:p14="http://schemas.microsoft.com/office/powerpoint/2010/main" val="2378524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1645" y="4430055"/>
            <a:ext cx="4334637" cy="2374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67" y="1340768"/>
            <a:ext cx="3301629" cy="251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967" y="1340768"/>
            <a:ext cx="3545356" cy="251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6221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890666"/>
          </a:xfrm>
        </p:spPr>
        <p:txBody>
          <a:bodyPr>
            <a:noAutofit/>
          </a:bodyPr>
          <a:lstStyle/>
          <a:p>
            <a:pPr algn="just"/>
            <a:r>
              <a:rPr lang="en-GB" sz="2700" dirty="0" err="1">
                <a:latin typeface="Times New Roman" panose="02020603050405020304" pitchFamily="18" charset="0"/>
                <a:cs typeface="Times New Roman" panose="02020603050405020304" pitchFamily="18" charset="0"/>
              </a:rPr>
              <a:t>Qo‘lni</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massaj</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qilganda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usta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o‘z</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barmoqlarini</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aylanma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pastdan</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tepaga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ko‘ndalang</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va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ilon</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izi</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harakatida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yurgizishi</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mumkin</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bilak</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kaft</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va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barmoqlarni</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uqalashda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bir</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oz</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tortib</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bo‘g‘inlar</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orasidagi</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poylarni</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ohista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cho‘zib</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qo‘yishga</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harakat</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qilish</a:t>
            </a:r>
            <a:r>
              <a:rPr lang="en-GB" sz="2700" dirty="0">
                <a:latin typeface="Times New Roman" panose="02020603050405020304" pitchFamily="18" charset="0"/>
                <a:cs typeface="Times New Roman" panose="02020603050405020304" pitchFamily="18" charset="0"/>
              </a:rPr>
              <a:t> </a:t>
            </a:r>
            <a:r>
              <a:rPr lang="en-GB" sz="2700" dirty="0" err="1" smtClean="0">
                <a:latin typeface="Times New Roman" panose="02020603050405020304" pitchFamily="18" charset="0"/>
                <a:cs typeface="Times New Roman" panose="02020603050405020304" pitchFamily="18" charset="0"/>
              </a:rPr>
              <a:t>kerak</a:t>
            </a:r>
            <a:r>
              <a:rPr lang="en-GB" sz="2700" dirty="0" smtClean="0">
                <a:latin typeface="Times New Roman" panose="02020603050405020304" pitchFamily="18" charset="0"/>
                <a:cs typeface="Times New Roman" panose="02020603050405020304" pitchFamily="18" charset="0"/>
              </a:rPr>
              <a:t>.</a:t>
            </a:r>
            <a:r>
              <a:rPr lang="es-US" sz="2700" dirty="0" smtClean="0">
                <a:latin typeface="Times New Roman" panose="02020603050405020304" pitchFamily="18" charset="0"/>
                <a:cs typeface="Times New Roman" panose="02020603050405020304" pitchFamily="18" charset="0"/>
              </a:rPr>
              <a:t>Barmoqlar </a:t>
            </a:r>
            <a:r>
              <a:rPr lang="es-US" sz="2700" dirty="0">
                <a:latin typeface="Times New Roman" panose="02020603050405020304" pitchFamily="18" charset="0"/>
                <a:cs typeface="Times New Roman" panose="02020603050405020304" pitchFamily="18" charset="0"/>
              </a:rPr>
              <a:t>uqalangandan keyin kaftning orqa va oldi tomo- ni massaj qilinadi. Uqalash amali barmoq uchlaridan bilakka qarata yo‘nalishi kerak. Uqalayotganda barmoqlarning orasi ochilib tursa har bir barmoqni hamma tarafini yaxshilab uqalab chiqishga imkoniyat yaratiladi. Kaftning yuzasi ham silash va ishqalash orqali uqalanadi. Undan tashqari bosh va ko‘rsatkich barmoq, yoki bosh barmoq va jimjiloq yordamida egish, ishqalash, aylanma harakat qilish, tortib qo‘yish mumkin.</a:t>
            </a:r>
            <a:r>
              <a:rPr lang="ru-RU" sz="2700" dirty="0">
                <a:latin typeface="Times New Roman" panose="02020603050405020304" pitchFamily="18" charset="0"/>
                <a:cs typeface="Times New Roman" panose="02020603050405020304" pitchFamily="18" charset="0"/>
              </a:rPr>
              <a:t/>
            </a:r>
            <a:br>
              <a:rPr lang="ru-RU" sz="2700" dirty="0">
                <a:latin typeface="Times New Roman" panose="02020603050405020304" pitchFamily="18" charset="0"/>
                <a:cs typeface="Times New Roman" panose="02020603050405020304" pitchFamily="18" charset="0"/>
              </a:rPr>
            </a:br>
            <a:endParaRPr lang="ru-RU"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1641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411" y="4293096"/>
            <a:ext cx="4446375"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5650" y="1505194"/>
            <a:ext cx="3281317" cy="2543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556792"/>
            <a:ext cx="3560396"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42711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Поток">
  <a:themeElements>
    <a:clrScheme name="Поток">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Поток">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Поток">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TotalTime>
  <Words>166</Words>
  <Application>Microsoft Office PowerPoint</Application>
  <PresentationFormat>Экран (4:3)</PresentationFormat>
  <Paragraphs>7</Paragraphs>
  <Slides>6</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6</vt:i4>
      </vt:variant>
    </vt:vector>
  </HeadingPairs>
  <TitlesOfParts>
    <vt:vector size="7" baseType="lpstr">
      <vt:lpstr>Поток</vt:lpstr>
      <vt:lpstr> Qo’l terisini parvarish qilish. Qo’l  barmoqlarini  massaj qilish. </vt:lpstr>
      <vt:lpstr>Презентация PowerPoint</vt:lpstr>
      <vt:lpstr>Qo’l  barmoqlarini  massaj qilishda turli xil oziqlantiruvchi kremlarni ishlatib barmoqlar, kaftlar va bilaklar yaxshilab uqalanadi. Qo‘lni uqalaganda limfa tomirlari kengayib, qon aylanish jara­yoni yaxshilanadi va tomirlarni yumshatib terini mayinlashtiradi. Odatda, uqalash amali tirnoqqa lak surtishdan oldin, mijoz qo‘lini tirgakka qo‘yib turgancha bajariladi. </vt:lpstr>
      <vt:lpstr>Презентация PowerPoint</vt:lpstr>
      <vt:lpstr>Qo‘lni massaj qilganda usta o‘z barmoqlarini aylanma, pastdan tepaga, ko‘ndalang va ilon izi harakatida yurgizishi mumkin, bilak, kaft va barmoqlarni uqalashda bir oz tortib, bo‘g‘inlar orasidagi poylarni ohista cho‘zib qo‘yishga harakat qilish kerak.Barmoqlar uqalangandan keyin kaftning orqa va oldi tomo- ni massaj qilinadi. Uqalash amali barmoq uchlaridan bilakka qarata yo‘nalishi kerak. Uqalayotganda barmoqlarning orasi ochilib tursa har bir barmoqni hamma tarafini yaxshilab uqalab chiqishga imkoniyat yaratiladi. Kaftning yuzasi ham silash va ishqalash orqali uqalanadi. Undan tashqari bosh va ko‘rsatkich barmoq, yoki bosh barmoq va jimjiloq yordamida egish, ishqalash, aylanma harakat qilish, tortib qo‘yish mumkin. </vt:lpstr>
      <vt:lpstr>Презентация PowerPoint</vt:lpstr>
    </vt:vector>
  </TitlesOfParts>
  <Company>SSK 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3-Mavzu: Qo’l terisini parvarish qilish. Qo’l  barmoqlarini  massaj qilish.</dc:title>
  <dc:creator>KOM-2</dc:creator>
  <cp:lastModifiedBy>Saboxat</cp:lastModifiedBy>
  <cp:revision>3</cp:revision>
  <dcterms:created xsi:type="dcterms:W3CDTF">2023-11-07T04:09:38Z</dcterms:created>
  <dcterms:modified xsi:type="dcterms:W3CDTF">2023-11-07T17:07:26Z</dcterms:modified>
</cp:coreProperties>
</file>